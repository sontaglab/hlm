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64" r:id="rId6"/>
    <p:sldId id="261" r:id="rId7"/>
    <p:sldId id="263" r:id="rId8"/>
    <p:sldId id="265" r:id="rId9"/>
    <p:sldId id="266"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14" d="100"/>
          <a:sy n="114" d="100"/>
        </p:scale>
        <p:origin x="150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43CC66-A716-4AC5-BBE9-797BB46C5DA6}" type="datetimeFigureOut">
              <a:rPr lang="en-US" smtClean="0"/>
              <a:t>7/10/2020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7E81C0-8078-44FE-9F8A-56A430A9AE28}" type="slidenum">
              <a:rPr lang="en-US" smtClean="0"/>
              <a:t>‹#›</a:t>
            </a:fld>
            <a:endParaRPr lang="en-US"/>
          </a:p>
        </p:txBody>
      </p:sp>
    </p:spTree>
    <p:extLst>
      <p:ext uri="{BB962C8B-B14F-4D97-AF65-F5344CB8AC3E}">
        <p14:creationId xmlns:p14="http://schemas.microsoft.com/office/powerpoint/2010/main" val="3645036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43CC66-A716-4AC5-BBE9-797BB46C5DA6}" type="datetimeFigureOut">
              <a:rPr lang="en-US" smtClean="0"/>
              <a:t>7/10/2020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7E81C0-8078-44FE-9F8A-56A430A9AE28}" type="slidenum">
              <a:rPr lang="en-US" smtClean="0"/>
              <a:t>‹#›</a:t>
            </a:fld>
            <a:endParaRPr lang="en-US"/>
          </a:p>
        </p:txBody>
      </p:sp>
    </p:spTree>
    <p:extLst>
      <p:ext uri="{BB962C8B-B14F-4D97-AF65-F5344CB8AC3E}">
        <p14:creationId xmlns:p14="http://schemas.microsoft.com/office/powerpoint/2010/main" val="3665757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43CC66-A716-4AC5-BBE9-797BB46C5DA6}" type="datetimeFigureOut">
              <a:rPr lang="en-US" smtClean="0"/>
              <a:t>7/10/2020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7E81C0-8078-44FE-9F8A-56A430A9AE28}" type="slidenum">
              <a:rPr lang="en-US" smtClean="0"/>
              <a:t>‹#›</a:t>
            </a:fld>
            <a:endParaRPr lang="en-US"/>
          </a:p>
        </p:txBody>
      </p:sp>
    </p:spTree>
    <p:extLst>
      <p:ext uri="{BB962C8B-B14F-4D97-AF65-F5344CB8AC3E}">
        <p14:creationId xmlns:p14="http://schemas.microsoft.com/office/powerpoint/2010/main" val="3591836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A43CC66-A716-4AC5-BBE9-797BB46C5DA6}" type="datetimeFigureOut">
              <a:rPr lang="en-US" smtClean="0"/>
              <a:t>7/10/2020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7E81C0-8078-44FE-9F8A-56A430A9AE28}" type="slidenum">
              <a:rPr lang="en-US" smtClean="0"/>
              <a:t>‹#›</a:t>
            </a:fld>
            <a:endParaRPr lang="en-US"/>
          </a:p>
        </p:txBody>
      </p:sp>
    </p:spTree>
    <p:extLst>
      <p:ext uri="{BB962C8B-B14F-4D97-AF65-F5344CB8AC3E}">
        <p14:creationId xmlns:p14="http://schemas.microsoft.com/office/powerpoint/2010/main" val="2505075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43CC66-A716-4AC5-BBE9-797BB46C5DA6}" type="datetimeFigureOut">
              <a:rPr lang="en-US" smtClean="0"/>
              <a:t>7/10/2020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7E81C0-8078-44FE-9F8A-56A430A9AE28}" type="slidenum">
              <a:rPr lang="en-US" smtClean="0"/>
              <a:t>‹#›</a:t>
            </a:fld>
            <a:endParaRPr lang="en-US"/>
          </a:p>
        </p:txBody>
      </p:sp>
    </p:spTree>
    <p:extLst>
      <p:ext uri="{BB962C8B-B14F-4D97-AF65-F5344CB8AC3E}">
        <p14:creationId xmlns:p14="http://schemas.microsoft.com/office/powerpoint/2010/main" val="3439328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A43CC66-A716-4AC5-BBE9-797BB46C5DA6}" type="datetimeFigureOut">
              <a:rPr lang="en-US" smtClean="0"/>
              <a:t>7/10/2020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7E81C0-8078-44FE-9F8A-56A430A9AE28}" type="slidenum">
              <a:rPr lang="en-US" smtClean="0"/>
              <a:t>‹#›</a:t>
            </a:fld>
            <a:endParaRPr lang="en-US"/>
          </a:p>
        </p:txBody>
      </p:sp>
    </p:spTree>
    <p:extLst>
      <p:ext uri="{BB962C8B-B14F-4D97-AF65-F5344CB8AC3E}">
        <p14:creationId xmlns:p14="http://schemas.microsoft.com/office/powerpoint/2010/main" val="3382910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43CC66-A716-4AC5-BBE9-797BB46C5DA6}" type="datetimeFigureOut">
              <a:rPr lang="en-US" smtClean="0"/>
              <a:t>7/10/2020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7E81C0-8078-44FE-9F8A-56A430A9AE28}" type="slidenum">
              <a:rPr lang="en-US" smtClean="0"/>
              <a:t>‹#›</a:t>
            </a:fld>
            <a:endParaRPr lang="en-US"/>
          </a:p>
        </p:txBody>
      </p:sp>
    </p:spTree>
    <p:extLst>
      <p:ext uri="{BB962C8B-B14F-4D97-AF65-F5344CB8AC3E}">
        <p14:creationId xmlns:p14="http://schemas.microsoft.com/office/powerpoint/2010/main" val="332869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43CC66-A716-4AC5-BBE9-797BB46C5DA6}" type="datetimeFigureOut">
              <a:rPr lang="en-US" smtClean="0"/>
              <a:t>7/10/2020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7E81C0-8078-44FE-9F8A-56A430A9AE28}" type="slidenum">
              <a:rPr lang="en-US" smtClean="0"/>
              <a:t>‹#›</a:t>
            </a:fld>
            <a:endParaRPr lang="en-US"/>
          </a:p>
        </p:txBody>
      </p:sp>
    </p:spTree>
    <p:extLst>
      <p:ext uri="{BB962C8B-B14F-4D97-AF65-F5344CB8AC3E}">
        <p14:creationId xmlns:p14="http://schemas.microsoft.com/office/powerpoint/2010/main" val="2619618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43CC66-A716-4AC5-BBE9-797BB46C5DA6}" type="datetimeFigureOut">
              <a:rPr lang="en-US" smtClean="0"/>
              <a:t>7/10/2020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7E81C0-8078-44FE-9F8A-56A430A9AE28}" type="slidenum">
              <a:rPr lang="en-US" smtClean="0"/>
              <a:t>‹#›</a:t>
            </a:fld>
            <a:endParaRPr lang="en-US"/>
          </a:p>
        </p:txBody>
      </p:sp>
    </p:spTree>
    <p:extLst>
      <p:ext uri="{BB962C8B-B14F-4D97-AF65-F5344CB8AC3E}">
        <p14:creationId xmlns:p14="http://schemas.microsoft.com/office/powerpoint/2010/main" val="2097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43CC66-A716-4AC5-BBE9-797BB46C5DA6}" type="datetimeFigureOut">
              <a:rPr lang="en-US" smtClean="0"/>
              <a:t>7/10/2020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7E81C0-8078-44FE-9F8A-56A430A9AE28}" type="slidenum">
              <a:rPr lang="en-US" smtClean="0"/>
              <a:t>‹#›</a:t>
            </a:fld>
            <a:endParaRPr lang="en-US"/>
          </a:p>
        </p:txBody>
      </p:sp>
    </p:spTree>
    <p:extLst>
      <p:ext uri="{BB962C8B-B14F-4D97-AF65-F5344CB8AC3E}">
        <p14:creationId xmlns:p14="http://schemas.microsoft.com/office/powerpoint/2010/main" val="3648592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43CC66-A716-4AC5-BBE9-797BB46C5DA6}" type="datetimeFigureOut">
              <a:rPr lang="en-US" smtClean="0"/>
              <a:t>7/10/2020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7E81C0-8078-44FE-9F8A-56A430A9AE28}" type="slidenum">
              <a:rPr lang="en-US" smtClean="0"/>
              <a:t>‹#›</a:t>
            </a:fld>
            <a:endParaRPr lang="en-US"/>
          </a:p>
        </p:txBody>
      </p:sp>
    </p:spTree>
    <p:extLst>
      <p:ext uri="{BB962C8B-B14F-4D97-AF65-F5344CB8AC3E}">
        <p14:creationId xmlns:p14="http://schemas.microsoft.com/office/powerpoint/2010/main" val="1965867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43CC66-A716-4AC5-BBE9-797BB46C5DA6}" type="datetimeFigureOut">
              <a:rPr lang="en-US" smtClean="0"/>
              <a:t>7/10/2020</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E81C0-8078-44FE-9F8A-56A430A9AE28}" type="slidenum">
              <a:rPr lang="en-US" smtClean="0"/>
              <a:t>‹#›</a:t>
            </a:fld>
            <a:endParaRPr lang="en-US"/>
          </a:p>
        </p:txBody>
      </p:sp>
    </p:spTree>
    <p:extLst>
      <p:ext uri="{BB962C8B-B14F-4D97-AF65-F5344CB8AC3E}">
        <p14:creationId xmlns:p14="http://schemas.microsoft.com/office/powerpoint/2010/main" val="39268863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53D6F1-0B66-4828-8B6D-3CD331D263A8}"/>
              </a:ext>
            </a:extLst>
          </p:cNvPr>
          <p:cNvSpPr txBox="1"/>
          <p:nvPr/>
        </p:nvSpPr>
        <p:spPr>
          <a:xfrm>
            <a:off x="642706" y="436103"/>
            <a:ext cx="8061457" cy="523220"/>
          </a:xfrm>
          <a:prstGeom prst="rect">
            <a:avLst/>
          </a:prstGeom>
          <a:noFill/>
        </p:spPr>
        <p:txBody>
          <a:bodyPr wrap="square" rtlCol="0">
            <a:spAutoFit/>
          </a:bodyPr>
          <a:lstStyle/>
          <a:p>
            <a:r>
              <a:rPr lang="en-US" sz="2800" b="1" dirty="0"/>
              <a:t>Background on what we just published</a:t>
            </a:r>
          </a:p>
        </p:txBody>
      </p:sp>
      <p:sp>
        <p:nvSpPr>
          <p:cNvPr id="5" name="TextBox 4">
            <a:extLst>
              <a:ext uri="{FF2B5EF4-FFF2-40B4-BE49-F238E27FC236}">
                <a16:creationId xmlns:a16="http://schemas.microsoft.com/office/drawing/2014/main" id="{721B4786-DD98-447B-A843-79C02B1E9732}"/>
              </a:ext>
            </a:extLst>
          </p:cNvPr>
          <p:cNvSpPr txBox="1"/>
          <p:nvPr/>
        </p:nvSpPr>
        <p:spPr>
          <a:xfrm>
            <a:off x="536687" y="959323"/>
            <a:ext cx="8273494" cy="5355312"/>
          </a:xfrm>
          <a:prstGeom prst="rect">
            <a:avLst/>
          </a:prstGeom>
          <a:noFill/>
        </p:spPr>
        <p:txBody>
          <a:bodyPr wrap="square" rtlCol="0">
            <a:spAutoFit/>
          </a:bodyPr>
          <a:lstStyle/>
          <a:p>
            <a:pPr marL="285750" indent="-285750">
              <a:buFont typeface="Arial" panose="020B0604020202020204" pitchFamily="34" charset="0"/>
              <a:buChar char="•"/>
            </a:pPr>
            <a:r>
              <a:rPr lang="en-US" dirty="0"/>
              <a:t>Original idea with disjunctive form is to take a Boolean function f, decompose it into its </a:t>
            </a:r>
            <a:r>
              <a:rPr lang="en-US" dirty="0" err="1"/>
              <a:t>minterms</a:t>
            </a:r>
            <a:r>
              <a:rPr lang="en-US" dirty="0"/>
              <a:t>, then:</a:t>
            </a:r>
          </a:p>
          <a:p>
            <a:endParaRPr lang="en-US" dirty="0"/>
          </a:p>
          <a:p>
            <a:pPr algn="ctr"/>
            <a:r>
              <a:rPr lang="en-US" i="1" dirty="0"/>
              <a:t>f = minterm_1 + minterm_2 + minterm_3</a:t>
            </a:r>
          </a:p>
          <a:p>
            <a:endParaRPr lang="en-US" dirty="0"/>
          </a:p>
          <a:p>
            <a:r>
              <a:rPr lang="en-US" dirty="0"/>
              <a:t>The most basic is to look at </a:t>
            </a:r>
            <a:r>
              <a:rPr lang="en-US" i="1" dirty="0"/>
              <a:t>minterm_1</a:t>
            </a:r>
            <a:r>
              <a:rPr lang="en-US" dirty="0"/>
              <a:t>, see how many NOR2 gates it requires, then look at </a:t>
            </a:r>
            <a:r>
              <a:rPr lang="en-US" i="1" dirty="0"/>
              <a:t>minterm_2 </a:t>
            </a:r>
            <a:r>
              <a:rPr lang="en-US" dirty="0"/>
              <a:t>etc. Then count how many of these </a:t>
            </a:r>
            <a:r>
              <a:rPr lang="en-US" dirty="0" err="1"/>
              <a:t>minterms</a:t>
            </a:r>
            <a:r>
              <a:rPr lang="en-US" dirty="0"/>
              <a:t> are offending (higher than a predefined N number of gates that cells can contain.</a:t>
            </a:r>
          </a:p>
          <a:p>
            <a:endParaRPr lang="en-US" dirty="0"/>
          </a:p>
          <a:p>
            <a:pPr marL="285750" indent="-285750">
              <a:buFont typeface="Arial" panose="020B0604020202020204" pitchFamily="34" charset="0"/>
              <a:buChar char="•"/>
            </a:pPr>
            <a:r>
              <a:rPr lang="en-US" dirty="0"/>
              <a:t>Introduced the idea of using optimization with the exact synthesis database</a:t>
            </a:r>
          </a:p>
          <a:p>
            <a:pPr marL="285750" indent="-285750">
              <a:buFont typeface="Arial" panose="020B0604020202020204" pitchFamily="34" charset="0"/>
              <a:buChar char="•"/>
            </a:pPr>
            <a:endParaRPr lang="en-US" dirty="0"/>
          </a:p>
          <a:p>
            <a:pPr marL="285750" indent="-285750">
              <a:buFont typeface="Wingdings" panose="05000000000000000000" pitchFamily="2" charset="2"/>
              <a:buChar char="è"/>
            </a:pPr>
            <a:r>
              <a:rPr lang="en-US" dirty="0">
                <a:sym typeface="Wingdings" panose="05000000000000000000" pitchFamily="2" charset="2"/>
              </a:rPr>
              <a:t>Check all patterns</a:t>
            </a:r>
          </a:p>
          <a:p>
            <a:pPr marL="285750" indent="-285750">
              <a:buFont typeface="Wingdings" panose="05000000000000000000" pitchFamily="2" charset="2"/>
              <a:buChar char="è"/>
            </a:pPr>
            <a:endParaRPr lang="en-US" dirty="0">
              <a:sym typeface="Wingdings" panose="05000000000000000000" pitchFamily="2" charset="2"/>
            </a:endParaRPr>
          </a:p>
          <a:p>
            <a:r>
              <a:rPr lang="en-US" i="1" dirty="0"/>
              <a:t>f_1 = minterm_1 + minterm_2              and                 f_2 = minterm_3</a:t>
            </a:r>
          </a:p>
          <a:p>
            <a:endParaRPr lang="en-US" i="1" dirty="0"/>
          </a:p>
          <a:p>
            <a:r>
              <a:rPr lang="en-US" i="1" dirty="0"/>
              <a:t>f_1 = minterm_1 				     and                 f_2 = minterm_2 + minterm_3 </a:t>
            </a:r>
          </a:p>
          <a:p>
            <a:r>
              <a:rPr lang="en-US" i="1" dirty="0"/>
              <a:t>…</a:t>
            </a:r>
          </a:p>
          <a:p>
            <a:endParaRPr lang="en-US" i="1" dirty="0"/>
          </a:p>
          <a:p>
            <a:r>
              <a:rPr lang="en-US" dirty="0"/>
              <a:t>Then check number offending terms for these combinations.</a:t>
            </a:r>
          </a:p>
        </p:txBody>
      </p:sp>
    </p:spTree>
    <p:extLst>
      <p:ext uri="{BB962C8B-B14F-4D97-AF65-F5344CB8AC3E}">
        <p14:creationId xmlns:p14="http://schemas.microsoft.com/office/powerpoint/2010/main" val="310313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53D6F1-0B66-4828-8B6D-3CD331D263A8}"/>
              </a:ext>
            </a:extLst>
          </p:cNvPr>
          <p:cNvSpPr txBox="1"/>
          <p:nvPr/>
        </p:nvSpPr>
        <p:spPr>
          <a:xfrm>
            <a:off x="642706" y="436103"/>
            <a:ext cx="8061457" cy="523220"/>
          </a:xfrm>
          <a:prstGeom prst="rect">
            <a:avLst/>
          </a:prstGeom>
          <a:noFill/>
        </p:spPr>
        <p:txBody>
          <a:bodyPr wrap="square" rtlCol="0">
            <a:spAutoFit/>
          </a:bodyPr>
          <a:lstStyle/>
          <a:p>
            <a:r>
              <a:rPr lang="en-US" sz="2800" b="1" dirty="0"/>
              <a:t>Background on what we just published</a:t>
            </a:r>
          </a:p>
        </p:txBody>
      </p:sp>
      <p:sp>
        <p:nvSpPr>
          <p:cNvPr id="5" name="TextBox 4">
            <a:extLst>
              <a:ext uri="{FF2B5EF4-FFF2-40B4-BE49-F238E27FC236}">
                <a16:creationId xmlns:a16="http://schemas.microsoft.com/office/drawing/2014/main" id="{721B4786-DD98-447B-A843-79C02B1E9732}"/>
              </a:ext>
            </a:extLst>
          </p:cNvPr>
          <p:cNvSpPr txBox="1"/>
          <p:nvPr/>
        </p:nvSpPr>
        <p:spPr>
          <a:xfrm>
            <a:off x="536687" y="959323"/>
            <a:ext cx="8273494" cy="369332"/>
          </a:xfrm>
          <a:prstGeom prst="rect">
            <a:avLst/>
          </a:prstGeom>
          <a:noFill/>
        </p:spPr>
        <p:txBody>
          <a:bodyPr wrap="square" rtlCol="0">
            <a:spAutoFit/>
          </a:bodyPr>
          <a:lstStyle/>
          <a:p>
            <a:pPr marL="285750" indent="-285750">
              <a:buFont typeface="Arial" panose="020B0604020202020204" pitchFamily="34" charset="0"/>
              <a:buChar char="•"/>
            </a:pPr>
            <a:r>
              <a:rPr lang="en-US" dirty="0"/>
              <a:t>Then we also had the partitioning idea:</a:t>
            </a:r>
          </a:p>
        </p:txBody>
      </p:sp>
      <p:pic>
        <p:nvPicPr>
          <p:cNvPr id="2" name="Picture 1">
            <a:extLst>
              <a:ext uri="{FF2B5EF4-FFF2-40B4-BE49-F238E27FC236}">
                <a16:creationId xmlns:a16="http://schemas.microsoft.com/office/drawing/2014/main" id="{02F1D47B-1DD0-4A3C-B42F-98BB27F768ED}"/>
              </a:ext>
            </a:extLst>
          </p:cNvPr>
          <p:cNvPicPr>
            <a:picLocks noChangeAspect="1"/>
          </p:cNvPicPr>
          <p:nvPr/>
        </p:nvPicPr>
        <p:blipFill>
          <a:blip r:embed="rId2"/>
          <a:stretch>
            <a:fillRect/>
          </a:stretch>
        </p:blipFill>
        <p:spPr>
          <a:xfrm>
            <a:off x="2903036" y="1328655"/>
            <a:ext cx="4252328" cy="2926334"/>
          </a:xfrm>
          <a:prstGeom prst="rect">
            <a:avLst/>
          </a:prstGeom>
        </p:spPr>
      </p:pic>
      <p:sp>
        <p:nvSpPr>
          <p:cNvPr id="3" name="TextBox 2">
            <a:extLst>
              <a:ext uri="{FF2B5EF4-FFF2-40B4-BE49-F238E27FC236}">
                <a16:creationId xmlns:a16="http://schemas.microsoft.com/office/drawing/2014/main" id="{C1F93902-7BEB-444A-B5F6-A3ED92F6CF2D}"/>
              </a:ext>
            </a:extLst>
          </p:cNvPr>
          <p:cNvSpPr txBox="1"/>
          <p:nvPr/>
        </p:nvSpPr>
        <p:spPr>
          <a:xfrm>
            <a:off x="770722" y="4358640"/>
            <a:ext cx="7995326" cy="1477328"/>
          </a:xfrm>
          <a:prstGeom prst="rect">
            <a:avLst/>
          </a:prstGeom>
          <a:noFill/>
        </p:spPr>
        <p:txBody>
          <a:bodyPr wrap="square" rtlCol="0">
            <a:spAutoFit/>
          </a:bodyPr>
          <a:lstStyle/>
          <a:p>
            <a:r>
              <a:rPr lang="en-US" dirty="0"/>
              <a:t>[Note, perhaps we want to save all other realizations that are of equal number of gates to the optimal design. Since my understanding is that we are calculating these exhaustively anyway.]</a:t>
            </a:r>
          </a:p>
          <a:p>
            <a:endParaRPr lang="en-US" dirty="0"/>
          </a:p>
          <a:p>
            <a:r>
              <a:rPr lang="en-US" dirty="0"/>
              <a:t>Since there are multiple possible such circuits, some may be better for partitioning! </a:t>
            </a:r>
          </a:p>
        </p:txBody>
      </p:sp>
    </p:spTree>
    <p:extLst>
      <p:ext uri="{BB962C8B-B14F-4D97-AF65-F5344CB8AC3E}">
        <p14:creationId xmlns:p14="http://schemas.microsoft.com/office/powerpoint/2010/main" val="873495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53D6F1-0B66-4828-8B6D-3CD331D263A8}"/>
              </a:ext>
            </a:extLst>
          </p:cNvPr>
          <p:cNvSpPr txBox="1"/>
          <p:nvPr/>
        </p:nvSpPr>
        <p:spPr>
          <a:xfrm>
            <a:off x="642706" y="436103"/>
            <a:ext cx="8273494" cy="523220"/>
          </a:xfrm>
          <a:prstGeom prst="rect">
            <a:avLst/>
          </a:prstGeom>
          <a:noFill/>
        </p:spPr>
        <p:txBody>
          <a:bodyPr wrap="square" rtlCol="0">
            <a:spAutoFit/>
          </a:bodyPr>
          <a:lstStyle/>
          <a:p>
            <a:r>
              <a:rPr lang="en-US" sz="2800" b="1" dirty="0"/>
              <a:t>1)Extending Boolean paper to account for more inputs</a:t>
            </a:r>
          </a:p>
        </p:txBody>
      </p:sp>
      <p:sp>
        <p:nvSpPr>
          <p:cNvPr id="5" name="TextBox 4">
            <a:extLst>
              <a:ext uri="{FF2B5EF4-FFF2-40B4-BE49-F238E27FC236}">
                <a16:creationId xmlns:a16="http://schemas.microsoft.com/office/drawing/2014/main" id="{721B4786-DD98-447B-A843-79C02B1E9732}"/>
              </a:ext>
            </a:extLst>
          </p:cNvPr>
          <p:cNvSpPr txBox="1"/>
          <p:nvPr/>
        </p:nvSpPr>
        <p:spPr>
          <a:xfrm>
            <a:off x="536687" y="1154395"/>
            <a:ext cx="8273494" cy="1754326"/>
          </a:xfrm>
          <a:prstGeom prst="rect">
            <a:avLst/>
          </a:prstGeom>
          <a:noFill/>
        </p:spPr>
        <p:txBody>
          <a:bodyPr wrap="square" rtlCol="0">
            <a:spAutoFit/>
          </a:bodyPr>
          <a:lstStyle/>
          <a:p>
            <a:pPr marL="285750" indent="-285750">
              <a:buFont typeface="Arial" panose="020B0604020202020204" pitchFamily="34" charset="0"/>
              <a:buChar char="•"/>
            </a:pPr>
            <a:r>
              <a:rPr lang="en-US" dirty="0"/>
              <a:t>Need a starting base (for now, ABC) </a:t>
            </a:r>
            <a:r>
              <a:rPr lang="en-US" dirty="0">
                <a:sym typeface="Wingdings" panose="05000000000000000000" pitchFamily="2" charset="2"/>
              </a:rPr>
              <a:t> </a:t>
            </a:r>
            <a:r>
              <a:rPr lang="en-US" b="1" u="sng" dirty="0">
                <a:sym typeface="Wingdings" panose="05000000000000000000" pitchFamily="2" charset="2"/>
              </a:rPr>
              <a:t>If you know of other similar software, please let me know!</a:t>
            </a:r>
          </a:p>
          <a:p>
            <a:pPr marL="285750" indent="-285750">
              <a:buFont typeface="Arial" panose="020B0604020202020204" pitchFamily="34" charset="0"/>
              <a:buChar char="•"/>
            </a:pPr>
            <a:r>
              <a:rPr lang="en-US" dirty="0">
                <a:sym typeface="Wingdings" panose="05000000000000000000" pitchFamily="2" charset="2"/>
              </a:rPr>
              <a:t>Basically each look-up now of a </a:t>
            </a:r>
            <a:r>
              <a:rPr lang="en-US" dirty="0" err="1">
                <a:sym typeface="Wingdings" panose="05000000000000000000" pitchFamily="2" charset="2"/>
              </a:rPr>
              <a:t>minterm</a:t>
            </a:r>
            <a:r>
              <a:rPr lang="en-US" dirty="0">
                <a:sym typeface="Wingdings" panose="05000000000000000000" pitchFamily="2" charset="2"/>
              </a:rPr>
              <a:t> or combined </a:t>
            </a:r>
            <a:r>
              <a:rPr lang="en-US" dirty="0" err="1">
                <a:sym typeface="Wingdings" panose="05000000000000000000" pitchFamily="2" charset="2"/>
              </a:rPr>
              <a:t>minterms</a:t>
            </a:r>
            <a:r>
              <a:rPr lang="en-US" dirty="0">
                <a:sym typeface="Wingdings" panose="05000000000000000000" pitchFamily="2" charset="2"/>
              </a:rPr>
              <a:t> will be sub-optimal, but the idea of the disjunctive form still applies.</a:t>
            </a:r>
          </a:p>
          <a:p>
            <a:pPr marL="285750" indent="-285750">
              <a:buFont typeface="Arial" panose="020B0604020202020204" pitchFamily="34" charset="0"/>
              <a:buChar char="•"/>
            </a:pPr>
            <a:endParaRPr lang="en-US" dirty="0">
              <a:sym typeface="Wingdings" panose="05000000000000000000" pitchFamily="2" charset="2"/>
            </a:endParaRPr>
          </a:p>
          <a:p>
            <a:pPr marL="285750" indent="-285750">
              <a:buFont typeface="Arial" panose="020B0604020202020204" pitchFamily="34" charset="0"/>
              <a:buChar char="•"/>
            </a:pPr>
            <a:endParaRPr lang="en-US" dirty="0">
              <a:sym typeface="Wingdings" panose="05000000000000000000" pitchFamily="2" charset="2"/>
            </a:endParaRPr>
          </a:p>
        </p:txBody>
      </p:sp>
      <p:sp>
        <p:nvSpPr>
          <p:cNvPr id="6" name="TextBox 5">
            <a:extLst>
              <a:ext uri="{FF2B5EF4-FFF2-40B4-BE49-F238E27FC236}">
                <a16:creationId xmlns:a16="http://schemas.microsoft.com/office/drawing/2014/main" id="{B4CE06B1-DD35-4019-967F-54BA0A44628C}"/>
              </a:ext>
            </a:extLst>
          </p:cNvPr>
          <p:cNvSpPr txBox="1"/>
          <p:nvPr/>
        </p:nvSpPr>
        <p:spPr>
          <a:xfrm>
            <a:off x="669970" y="2459504"/>
            <a:ext cx="3902030" cy="2031325"/>
          </a:xfrm>
          <a:prstGeom prst="rect">
            <a:avLst/>
          </a:prstGeom>
          <a:noFill/>
        </p:spPr>
        <p:txBody>
          <a:bodyPr wrap="none" rtlCol="0">
            <a:spAutoFit/>
          </a:bodyPr>
          <a:lstStyle/>
          <a:p>
            <a:r>
              <a:rPr lang="en-US" u="sng" dirty="0"/>
              <a:t>Input (some Verilog file):</a:t>
            </a:r>
          </a:p>
          <a:p>
            <a:r>
              <a:rPr lang="en-US" sz="1200" dirty="0"/>
              <a:t>module rca2 (x_2, x_3, x_4, x_5, x_6, x_8, x_9, s);</a:t>
            </a:r>
          </a:p>
          <a:p>
            <a:r>
              <a:rPr lang="en-US" sz="1200" dirty="0"/>
              <a:t>//-------------Input Ports Declarations-----------------------------</a:t>
            </a:r>
          </a:p>
          <a:p>
            <a:r>
              <a:rPr lang="en-US" sz="1200" dirty="0"/>
              <a:t>input x_2, x_3, x_4, x_5, x_6, x_8, x_9;</a:t>
            </a:r>
          </a:p>
          <a:p>
            <a:r>
              <a:rPr lang="en-US" sz="1200" dirty="0"/>
              <a:t>//-------------Output Ports Declarations-----------------------------</a:t>
            </a:r>
          </a:p>
          <a:p>
            <a:r>
              <a:rPr lang="en-US" sz="1200" dirty="0"/>
              <a:t>output s;</a:t>
            </a:r>
          </a:p>
          <a:p>
            <a:r>
              <a:rPr lang="en-US" sz="1200" dirty="0"/>
              <a:t>//-------------Logic-----------------------------------------------</a:t>
            </a:r>
          </a:p>
          <a:p>
            <a:r>
              <a:rPr lang="en-US" sz="1200" dirty="0"/>
              <a:t>assign s = ((x_2 &amp; x_5) | (x_3 &amp; (x_6 | x_8 | x_9))) &amp; (~x_4);</a:t>
            </a:r>
          </a:p>
          <a:p>
            <a:r>
              <a:rPr lang="en-US" sz="1200" dirty="0" err="1"/>
              <a:t>endmodule</a:t>
            </a:r>
            <a:endParaRPr lang="en-US" sz="1200" dirty="0"/>
          </a:p>
          <a:p>
            <a:endParaRPr lang="en-US" sz="1200" dirty="0"/>
          </a:p>
        </p:txBody>
      </p:sp>
      <p:pic>
        <p:nvPicPr>
          <p:cNvPr id="8" name="Picture 7" descr="A close up of a map&#10;&#10;Description automatically generated">
            <a:extLst>
              <a:ext uri="{FF2B5EF4-FFF2-40B4-BE49-F238E27FC236}">
                <a16:creationId xmlns:a16="http://schemas.microsoft.com/office/drawing/2014/main" id="{F3128072-04DE-4717-8216-6D00C6FEAF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9843" y="2940904"/>
            <a:ext cx="4131560" cy="3099850"/>
          </a:xfrm>
          <a:prstGeom prst="rect">
            <a:avLst/>
          </a:prstGeom>
        </p:spPr>
      </p:pic>
      <p:sp>
        <p:nvSpPr>
          <p:cNvPr id="9" name="TextBox 8">
            <a:extLst>
              <a:ext uri="{FF2B5EF4-FFF2-40B4-BE49-F238E27FC236}">
                <a16:creationId xmlns:a16="http://schemas.microsoft.com/office/drawing/2014/main" id="{9CC29B50-6D14-403C-B738-0745E1F6706F}"/>
              </a:ext>
            </a:extLst>
          </p:cNvPr>
          <p:cNvSpPr txBox="1"/>
          <p:nvPr/>
        </p:nvSpPr>
        <p:spPr>
          <a:xfrm>
            <a:off x="5114545" y="2505670"/>
            <a:ext cx="3956304" cy="923330"/>
          </a:xfrm>
          <a:prstGeom prst="rect">
            <a:avLst/>
          </a:prstGeom>
          <a:noFill/>
        </p:spPr>
        <p:txBody>
          <a:bodyPr wrap="square" rtlCol="0">
            <a:spAutoFit/>
          </a:bodyPr>
          <a:lstStyle/>
          <a:p>
            <a:pPr algn="ctr"/>
            <a:r>
              <a:rPr lang="en-US" u="sng" dirty="0"/>
              <a:t>Take input, parse and make it processable in MATLAB</a:t>
            </a:r>
          </a:p>
          <a:p>
            <a:pPr algn="ctr"/>
            <a:endParaRPr lang="en-US" dirty="0"/>
          </a:p>
        </p:txBody>
      </p:sp>
    </p:spTree>
    <p:extLst>
      <p:ext uri="{BB962C8B-B14F-4D97-AF65-F5344CB8AC3E}">
        <p14:creationId xmlns:p14="http://schemas.microsoft.com/office/powerpoint/2010/main" val="2807998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53D6F1-0B66-4828-8B6D-3CD331D263A8}"/>
              </a:ext>
            </a:extLst>
          </p:cNvPr>
          <p:cNvSpPr txBox="1"/>
          <p:nvPr/>
        </p:nvSpPr>
        <p:spPr>
          <a:xfrm>
            <a:off x="642706" y="436103"/>
            <a:ext cx="8325125" cy="523220"/>
          </a:xfrm>
          <a:prstGeom prst="rect">
            <a:avLst/>
          </a:prstGeom>
          <a:noFill/>
        </p:spPr>
        <p:txBody>
          <a:bodyPr wrap="square" rtlCol="0">
            <a:spAutoFit/>
          </a:bodyPr>
          <a:lstStyle/>
          <a:p>
            <a:r>
              <a:rPr lang="en-US" sz="2800" b="1" dirty="0"/>
              <a:t>1) Extending Boolean paper to account for more inputs</a:t>
            </a:r>
          </a:p>
        </p:txBody>
      </p:sp>
      <p:pic>
        <p:nvPicPr>
          <p:cNvPr id="1027" name="Picture 3">
            <a:extLst>
              <a:ext uri="{FF2B5EF4-FFF2-40B4-BE49-F238E27FC236}">
                <a16:creationId xmlns:a16="http://schemas.microsoft.com/office/drawing/2014/main" id="{201B2C61-70BB-4C72-BB9B-91C58CFA9C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5201" y="906205"/>
            <a:ext cx="5799137"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a:extLst>
              <a:ext uri="{FF2B5EF4-FFF2-40B4-BE49-F238E27FC236}">
                <a16:creationId xmlns:a16="http://schemas.microsoft.com/office/drawing/2014/main" id="{345FDFF7-8982-4E44-A25B-0A7088E798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0881" y="4307224"/>
            <a:ext cx="3061216" cy="2114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3A26F9AD-7D24-4A60-9DC3-E57AE0C72FFA}"/>
              </a:ext>
            </a:extLst>
          </p:cNvPr>
          <p:cNvSpPr txBox="1"/>
          <p:nvPr/>
        </p:nvSpPr>
        <p:spPr>
          <a:xfrm>
            <a:off x="357001" y="4137292"/>
            <a:ext cx="4316433" cy="2862322"/>
          </a:xfrm>
          <a:prstGeom prst="rect">
            <a:avLst/>
          </a:prstGeom>
          <a:noFill/>
        </p:spPr>
        <p:txBody>
          <a:bodyPr wrap="square" rtlCol="0">
            <a:spAutoFit/>
          </a:bodyPr>
          <a:lstStyle/>
          <a:p>
            <a:pPr algn="ctr"/>
            <a:r>
              <a:rPr lang="en-US" dirty="0"/>
              <a:t>Looking at the right structure, there exists a simpler form to form from the database.</a:t>
            </a:r>
          </a:p>
          <a:p>
            <a:pPr algn="ctr"/>
            <a:endParaRPr lang="en-US" dirty="0"/>
          </a:p>
          <a:p>
            <a:pPr algn="ctr"/>
            <a:r>
              <a:rPr lang="en-US" dirty="0"/>
              <a:t>This can be quite powerful as this tree on the left has many substructures that can be simplified.</a:t>
            </a:r>
          </a:p>
          <a:p>
            <a:pPr algn="ctr"/>
            <a:endParaRPr lang="en-US" dirty="0"/>
          </a:p>
          <a:p>
            <a:pPr algn="ctr"/>
            <a:r>
              <a:rPr lang="en-US" dirty="0">
                <a:sym typeface="Wingdings" panose="05000000000000000000" pitchFamily="2" charset="2"/>
              </a:rPr>
              <a:t> This can improve these ABC and related algorithms on the fly. [Other applications?]</a:t>
            </a:r>
            <a:endParaRPr lang="en-US" dirty="0"/>
          </a:p>
          <a:p>
            <a:pPr marL="285750" indent="-285750">
              <a:buFont typeface="Arial" panose="020B0604020202020204" pitchFamily="34" charset="0"/>
              <a:buChar char="•"/>
            </a:pPr>
            <a:endParaRPr lang="en-US" dirty="0"/>
          </a:p>
        </p:txBody>
      </p:sp>
      <p:cxnSp>
        <p:nvCxnSpPr>
          <p:cNvPr id="12" name="Straight Arrow Connector 11">
            <a:extLst>
              <a:ext uri="{FF2B5EF4-FFF2-40B4-BE49-F238E27FC236}">
                <a16:creationId xmlns:a16="http://schemas.microsoft.com/office/drawing/2014/main" id="{2D0F171A-01DB-4573-A0A4-A3F7E7A93E29}"/>
              </a:ext>
            </a:extLst>
          </p:cNvPr>
          <p:cNvCxnSpPr/>
          <p:nvPr/>
        </p:nvCxnSpPr>
        <p:spPr>
          <a:xfrm flipV="1">
            <a:off x="4733131" y="2919369"/>
            <a:ext cx="484821" cy="43622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299BBE1-DDB9-464D-9E36-6069373550D3}"/>
              </a:ext>
            </a:extLst>
          </p:cNvPr>
          <p:cNvSpPr txBox="1"/>
          <p:nvPr/>
        </p:nvSpPr>
        <p:spPr>
          <a:xfrm>
            <a:off x="3633199" y="3389927"/>
            <a:ext cx="2080470" cy="461665"/>
          </a:xfrm>
          <a:prstGeom prst="rect">
            <a:avLst/>
          </a:prstGeom>
          <a:noFill/>
        </p:spPr>
        <p:txBody>
          <a:bodyPr wrap="square" rtlCol="0">
            <a:spAutoFit/>
          </a:bodyPr>
          <a:lstStyle/>
          <a:p>
            <a:pPr algn="ctr"/>
            <a:r>
              <a:rPr lang="en-US" sz="1200" dirty="0"/>
              <a:t>Note that this node was simplified to have 4 inputs!</a:t>
            </a:r>
          </a:p>
        </p:txBody>
      </p:sp>
      <p:sp>
        <p:nvSpPr>
          <p:cNvPr id="14" name="TextBox 13">
            <a:extLst>
              <a:ext uri="{FF2B5EF4-FFF2-40B4-BE49-F238E27FC236}">
                <a16:creationId xmlns:a16="http://schemas.microsoft.com/office/drawing/2014/main" id="{167F24BA-65CC-4007-A387-7C45749E7D6F}"/>
              </a:ext>
            </a:extLst>
          </p:cNvPr>
          <p:cNvSpPr txBox="1"/>
          <p:nvPr/>
        </p:nvSpPr>
        <p:spPr>
          <a:xfrm>
            <a:off x="7692704" y="2263941"/>
            <a:ext cx="1011459" cy="369332"/>
          </a:xfrm>
          <a:prstGeom prst="rect">
            <a:avLst/>
          </a:prstGeom>
          <a:noFill/>
        </p:spPr>
        <p:txBody>
          <a:bodyPr wrap="square" rtlCol="0">
            <a:spAutoFit/>
          </a:bodyPr>
          <a:lstStyle/>
          <a:p>
            <a:r>
              <a:rPr lang="en-US" b="1" u="sng" dirty="0"/>
              <a:t>10 gates</a:t>
            </a:r>
          </a:p>
        </p:txBody>
      </p:sp>
      <p:sp>
        <p:nvSpPr>
          <p:cNvPr id="18" name="TextBox 17">
            <a:extLst>
              <a:ext uri="{FF2B5EF4-FFF2-40B4-BE49-F238E27FC236}">
                <a16:creationId xmlns:a16="http://schemas.microsoft.com/office/drawing/2014/main" id="{691396BE-7D0B-4F09-80F8-0B7A74A57C4C}"/>
              </a:ext>
            </a:extLst>
          </p:cNvPr>
          <p:cNvSpPr txBox="1"/>
          <p:nvPr/>
        </p:nvSpPr>
        <p:spPr>
          <a:xfrm>
            <a:off x="7801763" y="5323143"/>
            <a:ext cx="1011459" cy="369332"/>
          </a:xfrm>
          <a:prstGeom prst="rect">
            <a:avLst/>
          </a:prstGeom>
          <a:noFill/>
        </p:spPr>
        <p:txBody>
          <a:bodyPr wrap="square" rtlCol="0">
            <a:spAutoFit/>
          </a:bodyPr>
          <a:lstStyle/>
          <a:p>
            <a:r>
              <a:rPr lang="en-US" b="1" u="sng" dirty="0"/>
              <a:t>8 gates</a:t>
            </a:r>
          </a:p>
        </p:txBody>
      </p:sp>
      <p:sp>
        <p:nvSpPr>
          <p:cNvPr id="2" name="Rectangle 1">
            <a:extLst>
              <a:ext uri="{FF2B5EF4-FFF2-40B4-BE49-F238E27FC236}">
                <a16:creationId xmlns:a16="http://schemas.microsoft.com/office/drawing/2014/main" id="{E7806F62-01AD-4728-AECD-939FC1153E9C}"/>
              </a:ext>
            </a:extLst>
          </p:cNvPr>
          <p:cNvSpPr/>
          <p:nvPr/>
        </p:nvSpPr>
        <p:spPr>
          <a:xfrm>
            <a:off x="2054352" y="1298448"/>
            <a:ext cx="1383792" cy="5232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B96BB55-499B-4B73-8AC8-93E136CCC207}"/>
              </a:ext>
            </a:extLst>
          </p:cNvPr>
          <p:cNvSpPr/>
          <p:nvPr/>
        </p:nvSpPr>
        <p:spPr>
          <a:xfrm>
            <a:off x="2515217" y="2723504"/>
            <a:ext cx="767407" cy="116166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160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53D6F1-0B66-4828-8B6D-3CD331D263A8}"/>
              </a:ext>
            </a:extLst>
          </p:cNvPr>
          <p:cNvSpPr txBox="1"/>
          <p:nvPr/>
        </p:nvSpPr>
        <p:spPr>
          <a:xfrm>
            <a:off x="642706" y="436103"/>
            <a:ext cx="8325125" cy="523220"/>
          </a:xfrm>
          <a:prstGeom prst="rect">
            <a:avLst/>
          </a:prstGeom>
          <a:noFill/>
        </p:spPr>
        <p:txBody>
          <a:bodyPr wrap="square" rtlCol="0">
            <a:spAutoFit/>
          </a:bodyPr>
          <a:lstStyle/>
          <a:p>
            <a:r>
              <a:rPr lang="en-US" sz="2800" b="1" dirty="0"/>
              <a:t>1) Extending Boolean paper to account for more inputs</a:t>
            </a:r>
          </a:p>
        </p:txBody>
      </p:sp>
      <p:sp>
        <p:nvSpPr>
          <p:cNvPr id="2" name="TextBox 1">
            <a:extLst>
              <a:ext uri="{FF2B5EF4-FFF2-40B4-BE49-F238E27FC236}">
                <a16:creationId xmlns:a16="http://schemas.microsoft.com/office/drawing/2014/main" id="{485387A2-60F2-497D-8638-44E1EB44C3FD}"/>
              </a:ext>
            </a:extLst>
          </p:cNvPr>
          <p:cNvSpPr txBox="1"/>
          <p:nvPr/>
        </p:nvSpPr>
        <p:spPr>
          <a:xfrm>
            <a:off x="642707" y="1031846"/>
            <a:ext cx="8501294" cy="5355312"/>
          </a:xfrm>
          <a:prstGeom prst="rect">
            <a:avLst/>
          </a:prstGeom>
          <a:noFill/>
        </p:spPr>
        <p:txBody>
          <a:bodyPr wrap="square" rtlCol="0">
            <a:spAutoFit/>
          </a:bodyPr>
          <a:lstStyle/>
          <a:p>
            <a:r>
              <a:rPr lang="en-US" dirty="0"/>
              <a:t>Algorithm to produce that result</a:t>
            </a:r>
          </a:p>
          <a:p>
            <a:endParaRPr lang="en-US" dirty="0"/>
          </a:p>
          <a:p>
            <a:r>
              <a:rPr lang="en-US" dirty="0"/>
              <a:t>Preprocessing:</a:t>
            </a:r>
          </a:p>
          <a:p>
            <a:pPr marL="285750" indent="-285750">
              <a:buFont typeface="Arial" panose="020B0604020202020204" pitchFamily="34" charset="0"/>
              <a:buChar char="•"/>
            </a:pPr>
            <a:r>
              <a:rPr lang="en-US" dirty="0"/>
              <a:t>Create a “subtree” of inputs 4 or less by truncating at the top and bottom</a:t>
            </a:r>
          </a:p>
          <a:p>
            <a:pPr marL="285750" indent="-285750">
              <a:buFont typeface="Arial" panose="020B0604020202020204" pitchFamily="34" charset="0"/>
              <a:buChar char="•"/>
            </a:pPr>
            <a:r>
              <a:rPr lang="en-US" dirty="0"/>
              <a:t>Evaluate the tree “binary” id. </a:t>
            </a:r>
          </a:p>
          <a:p>
            <a:endParaRPr lang="en-US" dirty="0"/>
          </a:p>
          <a:p>
            <a:endParaRPr lang="en-US" dirty="0"/>
          </a:p>
          <a:p>
            <a:endParaRPr lang="en-US" dirty="0"/>
          </a:p>
          <a:p>
            <a:r>
              <a:rPr lang="en-US" dirty="0"/>
              <a:t>Check the database to see if the gate number is less than current </a:t>
            </a:r>
          </a:p>
          <a:p>
            <a:pPr marL="285750" indent="-285750">
              <a:buFont typeface="Wingdings" panose="05000000000000000000" pitchFamily="2" charset="2"/>
              <a:buChar char="è"/>
            </a:pPr>
            <a:r>
              <a:rPr lang="en-US" dirty="0">
                <a:sym typeface="Wingdings" panose="05000000000000000000" pitchFamily="2" charset="2"/>
              </a:rPr>
              <a:t>save information if it is, the move onto next possible subtree</a:t>
            </a:r>
          </a:p>
          <a:p>
            <a:endParaRPr lang="en-US" dirty="0">
              <a:sym typeface="Wingdings" panose="05000000000000000000" pitchFamily="2" charset="2"/>
            </a:endParaRPr>
          </a:p>
          <a:p>
            <a:pPr marL="285750" indent="-285750">
              <a:buFont typeface="Wingdings" panose="05000000000000000000" pitchFamily="2" charset="2"/>
              <a:buChar char="è"/>
            </a:pPr>
            <a:endParaRPr lang="en-US" dirty="0">
              <a:sym typeface="Wingdings" panose="05000000000000000000" pitchFamily="2" charset="2"/>
            </a:endParaRPr>
          </a:p>
          <a:p>
            <a:r>
              <a:rPr lang="en-US" dirty="0">
                <a:sym typeface="Wingdings" panose="05000000000000000000" pitchFamily="2" charset="2"/>
              </a:rPr>
              <a:t>For very large tree, there could be multiple subbing at once and then, probably the order matters! Need to develop some systematic way of testing all of them or narrow it down?</a:t>
            </a:r>
          </a:p>
          <a:p>
            <a:endParaRPr lang="en-US" dirty="0">
              <a:sym typeface="Wingdings" panose="05000000000000000000" pitchFamily="2" charset="2"/>
            </a:endParaRPr>
          </a:p>
          <a:p>
            <a:r>
              <a:rPr lang="en-US" dirty="0">
                <a:sym typeface="Wingdings" panose="05000000000000000000" pitchFamily="2" charset="2"/>
              </a:rPr>
              <a:t>At the end, need to reattached the “truncated” pieces back to recover original tree.</a:t>
            </a:r>
          </a:p>
          <a:p>
            <a:endParaRPr lang="en-US" dirty="0">
              <a:sym typeface="Wingdings" panose="05000000000000000000" pitchFamily="2" charset="2"/>
            </a:endParaRPr>
          </a:p>
          <a:p>
            <a:endParaRPr lang="en-US" dirty="0">
              <a:sym typeface="Wingdings" panose="05000000000000000000" pitchFamily="2" charset="2"/>
            </a:endParaRPr>
          </a:p>
          <a:p>
            <a:endParaRPr lang="en-US" dirty="0"/>
          </a:p>
        </p:txBody>
      </p:sp>
    </p:spTree>
    <p:extLst>
      <p:ext uri="{BB962C8B-B14F-4D97-AF65-F5344CB8AC3E}">
        <p14:creationId xmlns:p14="http://schemas.microsoft.com/office/powerpoint/2010/main" val="3117693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53D6F1-0B66-4828-8B6D-3CD331D263A8}"/>
              </a:ext>
            </a:extLst>
          </p:cNvPr>
          <p:cNvSpPr txBox="1"/>
          <p:nvPr/>
        </p:nvSpPr>
        <p:spPr>
          <a:xfrm>
            <a:off x="642706" y="436103"/>
            <a:ext cx="8299958" cy="523220"/>
          </a:xfrm>
          <a:prstGeom prst="rect">
            <a:avLst/>
          </a:prstGeom>
          <a:noFill/>
        </p:spPr>
        <p:txBody>
          <a:bodyPr wrap="square" rtlCol="0">
            <a:spAutoFit/>
          </a:bodyPr>
          <a:lstStyle/>
          <a:p>
            <a:r>
              <a:rPr lang="en-US" sz="2800" b="1" dirty="0"/>
              <a:t>1) Extending Boolean paper to account for more inputs</a:t>
            </a:r>
          </a:p>
        </p:txBody>
      </p:sp>
      <p:sp>
        <p:nvSpPr>
          <p:cNvPr id="2" name="TextBox 1">
            <a:extLst>
              <a:ext uri="{FF2B5EF4-FFF2-40B4-BE49-F238E27FC236}">
                <a16:creationId xmlns:a16="http://schemas.microsoft.com/office/drawing/2014/main" id="{B562FE7F-E69F-4065-B744-04F1A073183E}"/>
              </a:ext>
            </a:extLst>
          </p:cNvPr>
          <p:cNvSpPr txBox="1"/>
          <p:nvPr/>
        </p:nvSpPr>
        <p:spPr>
          <a:xfrm>
            <a:off x="642706" y="959323"/>
            <a:ext cx="1870448" cy="369332"/>
          </a:xfrm>
          <a:prstGeom prst="rect">
            <a:avLst/>
          </a:prstGeom>
          <a:noFill/>
        </p:spPr>
        <p:txBody>
          <a:bodyPr wrap="none" rtlCol="0">
            <a:spAutoFit/>
          </a:bodyPr>
          <a:lstStyle/>
          <a:p>
            <a:r>
              <a:rPr lang="en-US" dirty="0"/>
              <a:t>Overall algorithm:</a:t>
            </a:r>
          </a:p>
        </p:txBody>
      </p:sp>
      <p:sp>
        <p:nvSpPr>
          <p:cNvPr id="7" name="Rectangle 6">
            <a:extLst>
              <a:ext uri="{FF2B5EF4-FFF2-40B4-BE49-F238E27FC236}">
                <a16:creationId xmlns:a16="http://schemas.microsoft.com/office/drawing/2014/main" id="{5E9C34B8-CC97-47DD-AEB9-BA55FD82F54B}"/>
              </a:ext>
            </a:extLst>
          </p:cNvPr>
          <p:cNvSpPr/>
          <p:nvPr/>
        </p:nvSpPr>
        <p:spPr>
          <a:xfrm>
            <a:off x="780175" y="1532263"/>
            <a:ext cx="121279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Take initial BF</a:t>
            </a:r>
          </a:p>
        </p:txBody>
      </p:sp>
      <p:sp>
        <p:nvSpPr>
          <p:cNvPr id="14" name="Rectangle 13">
            <a:extLst>
              <a:ext uri="{FF2B5EF4-FFF2-40B4-BE49-F238E27FC236}">
                <a16:creationId xmlns:a16="http://schemas.microsoft.com/office/drawing/2014/main" id="{27D3550A-6931-4AAB-AC55-392C8CB46CA9}"/>
              </a:ext>
            </a:extLst>
          </p:cNvPr>
          <p:cNvSpPr/>
          <p:nvPr/>
        </p:nvSpPr>
        <p:spPr>
          <a:xfrm>
            <a:off x="2673668" y="1532263"/>
            <a:ext cx="1722163"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Find disjunctive form</a:t>
            </a:r>
          </a:p>
        </p:txBody>
      </p:sp>
      <p:cxnSp>
        <p:nvCxnSpPr>
          <p:cNvPr id="9" name="Straight Arrow Connector 8">
            <a:extLst>
              <a:ext uri="{FF2B5EF4-FFF2-40B4-BE49-F238E27FC236}">
                <a16:creationId xmlns:a16="http://schemas.microsoft.com/office/drawing/2014/main" id="{060F0855-8F47-4667-8B70-63F55E7A6754}"/>
              </a:ext>
            </a:extLst>
          </p:cNvPr>
          <p:cNvCxnSpPr>
            <a:cxnSpLocks/>
            <a:stCxn id="7" idx="3"/>
            <a:endCxn id="14" idx="1"/>
          </p:cNvCxnSpPr>
          <p:nvPr/>
        </p:nvCxnSpPr>
        <p:spPr>
          <a:xfrm>
            <a:off x="1992974" y="1716929"/>
            <a:ext cx="68069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BF3442F-B990-4476-A21B-01C1416454D1}"/>
              </a:ext>
            </a:extLst>
          </p:cNvPr>
          <p:cNvSpPr/>
          <p:nvPr/>
        </p:nvSpPr>
        <p:spPr>
          <a:xfrm>
            <a:off x="2676087" y="2293383"/>
            <a:ext cx="172216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Test all combinations [From MATLAB]</a:t>
            </a:r>
          </a:p>
        </p:txBody>
      </p:sp>
      <p:cxnSp>
        <p:nvCxnSpPr>
          <p:cNvPr id="24" name="Straight Arrow Connector 23">
            <a:extLst>
              <a:ext uri="{FF2B5EF4-FFF2-40B4-BE49-F238E27FC236}">
                <a16:creationId xmlns:a16="http://schemas.microsoft.com/office/drawing/2014/main" id="{B68DB6A6-8181-48B7-891B-28601AE4B011}"/>
              </a:ext>
            </a:extLst>
          </p:cNvPr>
          <p:cNvCxnSpPr>
            <a:cxnSpLocks/>
            <a:stCxn id="14" idx="2"/>
            <a:endCxn id="23" idx="0"/>
          </p:cNvCxnSpPr>
          <p:nvPr/>
        </p:nvCxnSpPr>
        <p:spPr>
          <a:xfrm>
            <a:off x="3534750" y="1901595"/>
            <a:ext cx="2419" cy="39178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180D0E9-6F04-412F-98BD-1DF9A65AC0C7}"/>
              </a:ext>
            </a:extLst>
          </p:cNvPr>
          <p:cNvCxnSpPr>
            <a:cxnSpLocks/>
            <a:stCxn id="23" idx="2"/>
            <a:endCxn id="32" idx="0"/>
          </p:cNvCxnSpPr>
          <p:nvPr/>
        </p:nvCxnSpPr>
        <p:spPr>
          <a:xfrm flipH="1">
            <a:off x="3534749" y="2816603"/>
            <a:ext cx="2420" cy="685679"/>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12BB80F2-26E6-4748-864F-C570D1E9DD6C}"/>
              </a:ext>
            </a:extLst>
          </p:cNvPr>
          <p:cNvSpPr/>
          <p:nvPr/>
        </p:nvSpPr>
        <p:spPr>
          <a:xfrm>
            <a:off x="2895976" y="3502282"/>
            <a:ext cx="127754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ABC/Other algorithms</a:t>
            </a:r>
          </a:p>
        </p:txBody>
      </p:sp>
      <p:sp>
        <p:nvSpPr>
          <p:cNvPr id="33" name="TextBox 32">
            <a:extLst>
              <a:ext uri="{FF2B5EF4-FFF2-40B4-BE49-F238E27FC236}">
                <a16:creationId xmlns:a16="http://schemas.microsoft.com/office/drawing/2014/main" id="{BB4587FE-514D-4197-9CB9-7059D849FA53}"/>
              </a:ext>
            </a:extLst>
          </p:cNvPr>
          <p:cNvSpPr txBox="1"/>
          <p:nvPr/>
        </p:nvSpPr>
        <p:spPr>
          <a:xfrm>
            <a:off x="2300845" y="2974776"/>
            <a:ext cx="1190262" cy="369332"/>
          </a:xfrm>
          <a:prstGeom prst="rect">
            <a:avLst/>
          </a:prstGeom>
          <a:noFill/>
        </p:spPr>
        <p:txBody>
          <a:bodyPr wrap="none" rtlCol="0">
            <a:spAutoFit/>
          </a:bodyPr>
          <a:lstStyle/>
          <a:p>
            <a:r>
              <a:rPr lang="en-US" dirty="0"/>
              <a:t>Interfacing</a:t>
            </a:r>
          </a:p>
        </p:txBody>
      </p:sp>
      <p:cxnSp>
        <p:nvCxnSpPr>
          <p:cNvPr id="37" name="Straight Arrow Connector 36">
            <a:extLst>
              <a:ext uri="{FF2B5EF4-FFF2-40B4-BE49-F238E27FC236}">
                <a16:creationId xmlns:a16="http://schemas.microsoft.com/office/drawing/2014/main" id="{91C6C3C7-D3BC-405F-BA17-CBE9C7DC6EF6}"/>
              </a:ext>
            </a:extLst>
          </p:cNvPr>
          <p:cNvCxnSpPr>
            <a:cxnSpLocks/>
          </p:cNvCxnSpPr>
          <p:nvPr/>
        </p:nvCxnSpPr>
        <p:spPr>
          <a:xfrm>
            <a:off x="3607266" y="3159442"/>
            <a:ext cx="1929468" cy="0"/>
          </a:xfrm>
          <a:prstGeom prst="straightConnector1">
            <a:avLst/>
          </a:prstGeom>
          <a:ln w="381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43E5DE9A-81BE-4849-9F46-0C724266C3ED}"/>
              </a:ext>
            </a:extLst>
          </p:cNvPr>
          <p:cNvSpPr/>
          <p:nvPr/>
        </p:nvSpPr>
        <p:spPr>
          <a:xfrm>
            <a:off x="5536734" y="4096030"/>
            <a:ext cx="1722163" cy="749197"/>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400" dirty="0"/>
              <a:t>Use result to do partitioning + DNF design</a:t>
            </a:r>
          </a:p>
        </p:txBody>
      </p:sp>
      <p:sp>
        <p:nvSpPr>
          <p:cNvPr id="42" name="Rectangle 41">
            <a:extLst>
              <a:ext uri="{FF2B5EF4-FFF2-40B4-BE49-F238E27FC236}">
                <a16:creationId xmlns:a16="http://schemas.microsoft.com/office/drawing/2014/main" id="{71292694-FBF2-480F-87D5-84172FBA09B0}"/>
              </a:ext>
            </a:extLst>
          </p:cNvPr>
          <p:cNvSpPr/>
          <p:nvPr/>
        </p:nvSpPr>
        <p:spPr>
          <a:xfrm>
            <a:off x="5536734" y="1626353"/>
            <a:ext cx="172216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Exact synthesis library</a:t>
            </a:r>
          </a:p>
        </p:txBody>
      </p:sp>
      <p:sp>
        <p:nvSpPr>
          <p:cNvPr id="43" name="Rectangle 42">
            <a:extLst>
              <a:ext uri="{FF2B5EF4-FFF2-40B4-BE49-F238E27FC236}">
                <a16:creationId xmlns:a16="http://schemas.microsoft.com/office/drawing/2014/main" id="{1D3B9F6B-A794-4F74-A744-DC33D5435DF0}"/>
              </a:ext>
            </a:extLst>
          </p:cNvPr>
          <p:cNvSpPr/>
          <p:nvPr/>
        </p:nvSpPr>
        <p:spPr>
          <a:xfrm>
            <a:off x="5536734" y="2816603"/>
            <a:ext cx="1722163" cy="6123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Reduce gate numbers from obtained output</a:t>
            </a:r>
          </a:p>
        </p:txBody>
      </p:sp>
      <p:cxnSp>
        <p:nvCxnSpPr>
          <p:cNvPr id="45" name="Straight Arrow Connector 44">
            <a:extLst>
              <a:ext uri="{FF2B5EF4-FFF2-40B4-BE49-F238E27FC236}">
                <a16:creationId xmlns:a16="http://schemas.microsoft.com/office/drawing/2014/main" id="{2147D81C-3057-4F92-A01A-E7B189BC1376}"/>
              </a:ext>
            </a:extLst>
          </p:cNvPr>
          <p:cNvCxnSpPr>
            <a:cxnSpLocks/>
            <a:endCxn id="43" idx="0"/>
          </p:cNvCxnSpPr>
          <p:nvPr/>
        </p:nvCxnSpPr>
        <p:spPr>
          <a:xfrm>
            <a:off x="6397816" y="2149573"/>
            <a:ext cx="0" cy="667030"/>
          </a:xfrm>
          <a:prstGeom prst="straightConnector1">
            <a:avLst/>
          </a:prstGeom>
          <a:ln w="381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7094955-9B47-44B9-99C2-DAE2D9F1EE50}"/>
              </a:ext>
            </a:extLst>
          </p:cNvPr>
          <p:cNvCxnSpPr>
            <a:cxnSpLocks/>
            <a:stCxn id="43" idx="2"/>
            <a:endCxn id="40" idx="0"/>
          </p:cNvCxnSpPr>
          <p:nvPr/>
        </p:nvCxnSpPr>
        <p:spPr>
          <a:xfrm>
            <a:off x="6397816" y="3429000"/>
            <a:ext cx="0" cy="667030"/>
          </a:xfrm>
          <a:prstGeom prst="straightConnector1">
            <a:avLst/>
          </a:prstGeom>
          <a:ln w="381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AEB058ED-0DC8-4191-A4AF-C4146E5E9E9D}"/>
              </a:ext>
            </a:extLst>
          </p:cNvPr>
          <p:cNvSpPr txBox="1"/>
          <p:nvPr/>
        </p:nvSpPr>
        <p:spPr>
          <a:xfrm>
            <a:off x="642706" y="4885900"/>
            <a:ext cx="8187656" cy="2062103"/>
          </a:xfrm>
          <a:prstGeom prst="rect">
            <a:avLst/>
          </a:prstGeom>
          <a:noFill/>
        </p:spPr>
        <p:txBody>
          <a:bodyPr wrap="square" rtlCol="0">
            <a:spAutoFit/>
          </a:bodyPr>
          <a:lstStyle/>
          <a:p>
            <a:pPr marL="285750" indent="-285750">
              <a:buFont typeface="Arial" panose="020B0604020202020204" pitchFamily="34" charset="0"/>
              <a:buChar char="•"/>
            </a:pPr>
            <a:r>
              <a:rPr lang="en-US" sz="1600" dirty="0"/>
              <a:t>Key point #1: This works for any input &gt; 4. We can find many examples where this could be useful.</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Key point #2: We can make large circuits “more” optimal (good for this but also in general for synthesis). Does the idea I propose in the previous slide exist elsewhere?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Any other idea that we could do for, say another ACS synthetic biology paper? Or should we target a more synthesis oriented journal?</a:t>
            </a:r>
          </a:p>
        </p:txBody>
      </p:sp>
      <p:sp>
        <p:nvSpPr>
          <p:cNvPr id="51" name="Right Brace 50">
            <a:extLst>
              <a:ext uri="{FF2B5EF4-FFF2-40B4-BE49-F238E27FC236}">
                <a16:creationId xmlns:a16="http://schemas.microsoft.com/office/drawing/2014/main" id="{20A2A8EA-4B14-4771-A34A-37903357A468}"/>
              </a:ext>
            </a:extLst>
          </p:cNvPr>
          <p:cNvSpPr/>
          <p:nvPr/>
        </p:nvSpPr>
        <p:spPr>
          <a:xfrm>
            <a:off x="7277448" y="1532263"/>
            <a:ext cx="411058" cy="335363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a:extLst>
              <a:ext uri="{FF2B5EF4-FFF2-40B4-BE49-F238E27FC236}">
                <a16:creationId xmlns:a16="http://schemas.microsoft.com/office/drawing/2014/main" id="{CAC7173C-C3DF-4F19-B695-F7001B83F08E}"/>
              </a:ext>
            </a:extLst>
          </p:cNvPr>
          <p:cNvSpPr txBox="1"/>
          <p:nvPr/>
        </p:nvSpPr>
        <p:spPr>
          <a:xfrm>
            <a:off x="7688506" y="2726422"/>
            <a:ext cx="1455494" cy="830997"/>
          </a:xfrm>
          <a:prstGeom prst="rect">
            <a:avLst/>
          </a:prstGeom>
          <a:noFill/>
        </p:spPr>
        <p:txBody>
          <a:bodyPr wrap="square" rtlCol="0">
            <a:spAutoFit/>
          </a:bodyPr>
          <a:lstStyle/>
          <a:p>
            <a:pPr algn="ctr"/>
            <a:r>
              <a:rPr lang="en-US" sz="1600" b="1" dirty="0"/>
              <a:t>Select best result based on criteria</a:t>
            </a:r>
          </a:p>
        </p:txBody>
      </p:sp>
    </p:spTree>
    <p:extLst>
      <p:ext uri="{BB962C8B-B14F-4D97-AF65-F5344CB8AC3E}">
        <p14:creationId xmlns:p14="http://schemas.microsoft.com/office/powerpoint/2010/main" val="1730167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53D6F1-0B66-4828-8B6D-3CD331D263A8}"/>
              </a:ext>
            </a:extLst>
          </p:cNvPr>
          <p:cNvSpPr txBox="1"/>
          <p:nvPr/>
        </p:nvSpPr>
        <p:spPr>
          <a:xfrm>
            <a:off x="642706" y="436103"/>
            <a:ext cx="8291569" cy="523220"/>
          </a:xfrm>
          <a:prstGeom prst="rect">
            <a:avLst/>
          </a:prstGeom>
          <a:noFill/>
        </p:spPr>
        <p:txBody>
          <a:bodyPr wrap="square" rtlCol="0">
            <a:spAutoFit/>
          </a:bodyPr>
          <a:lstStyle/>
          <a:p>
            <a:r>
              <a:rPr lang="en-US" sz="2800" b="1" dirty="0"/>
              <a:t>2) Exact synthesis algorithm</a:t>
            </a:r>
          </a:p>
        </p:txBody>
      </p:sp>
      <p:pic>
        <p:nvPicPr>
          <p:cNvPr id="5" name="Picture 4">
            <a:extLst>
              <a:ext uri="{FF2B5EF4-FFF2-40B4-BE49-F238E27FC236}">
                <a16:creationId xmlns:a16="http://schemas.microsoft.com/office/drawing/2014/main" id="{91ED57CF-A8CA-40E7-8F1E-9FF893E62F71}"/>
              </a:ext>
            </a:extLst>
          </p:cNvPr>
          <p:cNvPicPr>
            <a:picLocks noChangeAspect="1"/>
          </p:cNvPicPr>
          <p:nvPr/>
        </p:nvPicPr>
        <p:blipFill>
          <a:blip r:embed="rId2"/>
          <a:stretch>
            <a:fillRect/>
          </a:stretch>
        </p:blipFill>
        <p:spPr>
          <a:xfrm>
            <a:off x="96568" y="910890"/>
            <a:ext cx="2291214" cy="1094391"/>
          </a:xfrm>
          <a:prstGeom prst="rect">
            <a:avLst/>
          </a:prstGeom>
        </p:spPr>
      </p:pic>
      <p:pic>
        <p:nvPicPr>
          <p:cNvPr id="6" name="Picture 5">
            <a:extLst>
              <a:ext uri="{FF2B5EF4-FFF2-40B4-BE49-F238E27FC236}">
                <a16:creationId xmlns:a16="http://schemas.microsoft.com/office/drawing/2014/main" id="{341311D8-5548-401B-90CF-CE6CA359DD6D}"/>
              </a:ext>
            </a:extLst>
          </p:cNvPr>
          <p:cNvPicPr>
            <a:picLocks noChangeAspect="1"/>
          </p:cNvPicPr>
          <p:nvPr/>
        </p:nvPicPr>
        <p:blipFill>
          <a:blip r:embed="rId3"/>
          <a:stretch>
            <a:fillRect/>
          </a:stretch>
        </p:blipFill>
        <p:spPr>
          <a:xfrm>
            <a:off x="139367" y="2127108"/>
            <a:ext cx="2351537" cy="1094391"/>
          </a:xfrm>
          <a:prstGeom prst="rect">
            <a:avLst/>
          </a:prstGeom>
        </p:spPr>
      </p:pic>
      <p:pic>
        <p:nvPicPr>
          <p:cNvPr id="8" name="Picture 7">
            <a:extLst>
              <a:ext uri="{FF2B5EF4-FFF2-40B4-BE49-F238E27FC236}">
                <a16:creationId xmlns:a16="http://schemas.microsoft.com/office/drawing/2014/main" id="{9BE75526-774F-4623-9797-170707EFAD14}"/>
              </a:ext>
            </a:extLst>
          </p:cNvPr>
          <p:cNvPicPr>
            <a:picLocks noChangeAspect="1"/>
          </p:cNvPicPr>
          <p:nvPr/>
        </p:nvPicPr>
        <p:blipFill>
          <a:blip r:embed="rId4"/>
          <a:stretch>
            <a:fillRect/>
          </a:stretch>
        </p:blipFill>
        <p:spPr>
          <a:xfrm>
            <a:off x="219688" y="3429000"/>
            <a:ext cx="2224450" cy="911288"/>
          </a:xfrm>
          <a:prstGeom prst="rect">
            <a:avLst/>
          </a:prstGeom>
        </p:spPr>
      </p:pic>
      <p:pic>
        <p:nvPicPr>
          <p:cNvPr id="10" name="Picture 9">
            <a:extLst>
              <a:ext uri="{FF2B5EF4-FFF2-40B4-BE49-F238E27FC236}">
                <a16:creationId xmlns:a16="http://schemas.microsoft.com/office/drawing/2014/main" id="{C555E5E7-BFAF-4B78-9CD9-D99A3A52C1F5}"/>
              </a:ext>
            </a:extLst>
          </p:cNvPr>
          <p:cNvPicPr>
            <a:picLocks noChangeAspect="1"/>
          </p:cNvPicPr>
          <p:nvPr/>
        </p:nvPicPr>
        <p:blipFill>
          <a:blip r:embed="rId5"/>
          <a:stretch>
            <a:fillRect/>
          </a:stretch>
        </p:blipFill>
        <p:spPr>
          <a:xfrm>
            <a:off x="124816" y="4583942"/>
            <a:ext cx="2234718" cy="1019726"/>
          </a:xfrm>
          <a:prstGeom prst="rect">
            <a:avLst/>
          </a:prstGeom>
        </p:spPr>
      </p:pic>
      <p:pic>
        <p:nvPicPr>
          <p:cNvPr id="11" name="Picture 10">
            <a:extLst>
              <a:ext uri="{FF2B5EF4-FFF2-40B4-BE49-F238E27FC236}">
                <a16:creationId xmlns:a16="http://schemas.microsoft.com/office/drawing/2014/main" id="{94C4DCD0-3474-42B9-8702-AD7BF65B6049}"/>
              </a:ext>
            </a:extLst>
          </p:cNvPr>
          <p:cNvPicPr>
            <a:picLocks noChangeAspect="1"/>
          </p:cNvPicPr>
          <p:nvPr/>
        </p:nvPicPr>
        <p:blipFill>
          <a:blip r:embed="rId6"/>
          <a:stretch>
            <a:fillRect/>
          </a:stretch>
        </p:blipFill>
        <p:spPr>
          <a:xfrm>
            <a:off x="2859122" y="995764"/>
            <a:ext cx="2173158" cy="1153104"/>
          </a:xfrm>
          <a:prstGeom prst="rect">
            <a:avLst/>
          </a:prstGeom>
        </p:spPr>
      </p:pic>
      <p:pic>
        <p:nvPicPr>
          <p:cNvPr id="12" name="Picture 11">
            <a:extLst>
              <a:ext uri="{FF2B5EF4-FFF2-40B4-BE49-F238E27FC236}">
                <a16:creationId xmlns:a16="http://schemas.microsoft.com/office/drawing/2014/main" id="{D0C00DCA-ECC7-404F-8C5D-AAC0F74C942B}"/>
              </a:ext>
            </a:extLst>
          </p:cNvPr>
          <p:cNvPicPr>
            <a:picLocks noChangeAspect="1"/>
          </p:cNvPicPr>
          <p:nvPr/>
        </p:nvPicPr>
        <p:blipFill>
          <a:blip r:embed="rId7"/>
          <a:stretch>
            <a:fillRect/>
          </a:stretch>
        </p:blipFill>
        <p:spPr>
          <a:xfrm>
            <a:off x="2859122" y="2185771"/>
            <a:ext cx="2344016" cy="1035728"/>
          </a:xfrm>
          <a:prstGeom prst="rect">
            <a:avLst/>
          </a:prstGeom>
        </p:spPr>
      </p:pic>
      <p:pic>
        <p:nvPicPr>
          <p:cNvPr id="13" name="Picture 12">
            <a:extLst>
              <a:ext uri="{FF2B5EF4-FFF2-40B4-BE49-F238E27FC236}">
                <a16:creationId xmlns:a16="http://schemas.microsoft.com/office/drawing/2014/main" id="{29E86058-6C01-4DEF-B54A-D5F6EE41A6DD}"/>
              </a:ext>
            </a:extLst>
          </p:cNvPr>
          <p:cNvPicPr>
            <a:picLocks noChangeAspect="1"/>
          </p:cNvPicPr>
          <p:nvPr/>
        </p:nvPicPr>
        <p:blipFill>
          <a:blip r:embed="rId8"/>
          <a:stretch>
            <a:fillRect/>
          </a:stretch>
        </p:blipFill>
        <p:spPr>
          <a:xfrm>
            <a:off x="2793335" y="3349201"/>
            <a:ext cx="2304731" cy="1070885"/>
          </a:xfrm>
          <a:prstGeom prst="rect">
            <a:avLst/>
          </a:prstGeom>
        </p:spPr>
      </p:pic>
      <p:pic>
        <p:nvPicPr>
          <p:cNvPr id="15" name="Picture 14">
            <a:extLst>
              <a:ext uri="{FF2B5EF4-FFF2-40B4-BE49-F238E27FC236}">
                <a16:creationId xmlns:a16="http://schemas.microsoft.com/office/drawing/2014/main" id="{5A8F48C0-8DA5-4FE0-AF47-D8E0EB73011D}"/>
              </a:ext>
            </a:extLst>
          </p:cNvPr>
          <p:cNvPicPr>
            <a:picLocks noChangeAspect="1"/>
          </p:cNvPicPr>
          <p:nvPr/>
        </p:nvPicPr>
        <p:blipFill>
          <a:blip r:embed="rId9"/>
          <a:stretch>
            <a:fillRect/>
          </a:stretch>
        </p:blipFill>
        <p:spPr>
          <a:xfrm>
            <a:off x="2754050" y="4547788"/>
            <a:ext cx="2344016" cy="993529"/>
          </a:xfrm>
          <a:prstGeom prst="rect">
            <a:avLst/>
          </a:prstGeom>
        </p:spPr>
      </p:pic>
      <p:pic>
        <p:nvPicPr>
          <p:cNvPr id="16" name="Picture 15">
            <a:extLst>
              <a:ext uri="{FF2B5EF4-FFF2-40B4-BE49-F238E27FC236}">
                <a16:creationId xmlns:a16="http://schemas.microsoft.com/office/drawing/2014/main" id="{3004CDEC-61C7-4DD4-8C7A-A3F96E0AA076}"/>
              </a:ext>
            </a:extLst>
          </p:cNvPr>
          <p:cNvPicPr>
            <a:picLocks noChangeAspect="1"/>
          </p:cNvPicPr>
          <p:nvPr/>
        </p:nvPicPr>
        <p:blipFill>
          <a:blip r:embed="rId10"/>
          <a:stretch>
            <a:fillRect/>
          </a:stretch>
        </p:blipFill>
        <p:spPr>
          <a:xfrm>
            <a:off x="1212109" y="5585912"/>
            <a:ext cx="2545755" cy="1089164"/>
          </a:xfrm>
          <a:prstGeom prst="rect">
            <a:avLst/>
          </a:prstGeom>
        </p:spPr>
      </p:pic>
      <p:pic>
        <p:nvPicPr>
          <p:cNvPr id="17" name="Picture 16">
            <a:extLst>
              <a:ext uri="{FF2B5EF4-FFF2-40B4-BE49-F238E27FC236}">
                <a16:creationId xmlns:a16="http://schemas.microsoft.com/office/drawing/2014/main" id="{D68EA764-A411-4666-9878-C8A8C3E5900A}"/>
              </a:ext>
            </a:extLst>
          </p:cNvPr>
          <p:cNvPicPr>
            <a:picLocks noChangeAspect="1"/>
          </p:cNvPicPr>
          <p:nvPr/>
        </p:nvPicPr>
        <p:blipFill>
          <a:blip r:embed="rId11"/>
          <a:stretch>
            <a:fillRect/>
          </a:stretch>
        </p:blipFill>
        <p:spPr>
          <a:xfrm>
            <a:off x="5182196" y="1395551"/>
            <a:ext cx="3961804" cy="4910343"/>
          </a:xfrm>
          <a:prstGeom prst="rect">
            <a:avLst/>
          </a:prstGeom>
        </p:spPr>
      </p:pic>
    </p:spTree>
    <p:extLst>
      <p:ext uri="{BB962C8B-B14F-4D97-AF65-F5344CB8AC3E}">
        <p14:creationId xmlns:p14="http://schemas.microsoft.com/office/powerpoint/2010/main" val="1263822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53D6F1-0B66-4828-8B6D-3CD331D263A8}"/>
              </a:ext>
            </a:extLst>
          </p:cNvPr>
          <p:cNvSpPr txBox="1"/>
          <p:nvPr/>
        </p:nvSpPr>
        <p:spPr>
          <a:xfrm>
            <a:off x="642706" y="436103"/>
            <a:ext cx="8291569" cy="523220"/>
          </a:xfrm>
          <a:prstGeom prst="rect">
            <a:avLst/>
          </a:prstGeom>
          <a:noFill/>
        </p:spPr>
        <p:txBody>
          <a:bodyPr wrap="square" rtlCol="0">
            <a:spAutoFit/>
          </a:bodyPr>
          <a:lstStyle/>
          <a:p>
            <a:r>
              <a:rPr lang="en-US" sz="2800" b="1" dirty="0"/>
              <a:t>2) Exact synthesis algorithm</a:t>
            </a:r>
          </a:p>
        </p:txBody>
      </p:sp>
      <p:pic>
        <p:nvPicPr>
          <p:cNvPr id="17" name="Picture 16">
            <a:extLst>
              <a:ext uri="{FF2B5EF4-FFF2-40B4-BE49-F238E27FC236}">
                <a16:creationId xmlns:a16="http://schemas.microsoft.com/office/drawing/2014/main" id="{D68EA764-A411-4666-9878-C8A8C3E5900A}"/>
              </a:ext>
            </a:extLst>
          </p:cNvPr>
          <p:cNvPicPr>
            <a:picLocks noChangeAspect="1"/>
          </p:cNvPicPr>
          <p:nvPr/>
        </p:nvPicPr>
        <p:blipFill>
          <a:blip r:embed="rId2"/>
          <a:stretch>
            <a:fillRect/>
          </a:stretch>
        </p:blipFill>
        <p:spPr>
          <a:xfrm>
            <a:off x="5917556" y="1832049"/>
            <a:ext cx="3226444" cy="3998922"/>
          </a:xfrm>
          <a:prstGeom prst="rect">
            <a:avLst/>
          </a:prstGeom>
        </p:spPr>
      </p:pic>
      <p:sp>
        <p:nvSpPr>
          <p:cNvPr id="2" name="TextBox 1">
            <a:extLst>
              <a:ext uri="{FF2B5EF4-FFF2-40B4-BE49-F238E27FC236}">
                <a16:creationId xmlns:a16="http://schemas.microsoft.com/office/drawing/2014/main" id="{D1CDE84C-A2D2-4F72-908E-342DBF229A3A}"/>
              </a:ext>
            </a:extLst>
          </p:cNvPr>
          <p:cNvSpPr txBox="1"/>
          <p:nvPr/>
        </p:nvSpPr>
        <p:spPr>
          <a:xfrm>
            <a:off x="467266" y="1185718"/>
            <a:ext cx="5589585" cy="2893100"/>
          </a:xfrm>
          <a:prstGeom prst="rect">
            <a:avLst/>
          </a:prstGeom>
          <a:noFill/>
        </p:spPr>
        <p:txBody>
          <a:bodyPr wrap="square" rtlCol="0">
            <a:spAutoFit/>
          </a:bodyPr>
          <a:lstStyle/>
          <a:p>
            <a:r>
              <a:rPr lang="en-US" sz="1400" dirty="0"/>
              <a:t>Questions:</a:t>
            </a:r>
          </a:p>
          <a:p>
            <a:pPr marL="285750" indent="-285750">
              <a:buFont typeface="Arial" panose="020B0604020202020204" pitchFamily="34" charset="0"/>
              <a:buChar char="•"/>
            </a:pPr>
            <a:r>
              <a:rPr lang="en-US" sz="1400" dirty="0"/>
              <a:t>How does the algorithm know what is the next element to test when it gets to the end?</a:t>
            </a:r>
          </a:p>
          <a:p>
            <a:pPr marL="285750" indent="-285750">
              <a:buFont typeface="Arial" panose="020B0604020202020204" pitchFamily="34" charset="0"/>
              <a:buChar char="•"/>
            </a:pPr>
            <a:r>
              <a:rPr lang="en-US" sz="1400" dirty="0"/>
              <a:t>Can we unroll this recursion into an iteration? [GPU has a limit to how “deep” this recursion can go/do we know what the tree profile is before reaching the end?]</a:t>
            </a:r>
          </a:p>
          <a:p>
            <a:pPr marL="285750" indent="-285750">
              <a:buFont typeface="Arial" panose="020B0604020202020204" pitchFamily="34" charset="0"/>
              <a:buChar char="•"/>
            </a:pPr>
            <a:r>
              <a:rPr lang="en-US" sz="1400" dirty="0"/>
              <a:t>What is the memory consumption when the tree becomes large? </a:t>
            </a:r>
          </a:p>
          <a:p>
            <a:pPr marL="285750" indent="-285750">
              <a:buFont typeface="Arial" panose="020B0604020202020204" pitchFamily="34" charset="0"/>
              <a:buChar char="•"/>
            </a:pPr>
            <a:r>
              <a:rPr lang="en-US" sz="1400" dirty="0"/>
              <a:t>Are there ways to truncate this tree faster than testing whether current gate cost &gt; </a:t>
            </a:r>
            <a:r>
              <a:rPr lang="en-US" sz="1400" dirty="0" err="1"/>
              <a:t>current_minimum</a:t>
            </a:r>
            <a:r>
              <a:rPr lang="en-US" sz="1400" dirty="0"/>
              <a:t>?</a:t>
            </a:r>
          </a:p>
          <a:p>
            <a:pPr marL="285750" indent="-285750">
              <a:buFont typeface="Arial" panose="020B0604020202020204" pitchFamily="34" charset="0"/>
              <a:buChar char="•"/>
            </a:pPr>
            <a:r>
              <a:rPr lang="en-US" sz="1400" dirty="0"/>
              <a:t>For a given calculation, how much information needs to be saved? [Important to know if GPU implementation is possible]</a:t>
            </a:r>
          </a:p>
          <a:p>
            <a:pPr marL="285750" indent="-285750">
              <a:buFont typeface="Arial" panose="020B0604020202020204" pitchFamily="34" charset="0"/>
              <a:buChar char="•"/>
            </a:pPr>
            <a:r>
              <a:rPr lang="en-US" sz="1400" dirty="0"/>
              <a:t>Is the use of library necessary? How hard would it be to rewrite the software in C without the libraries to handle directed graphs etc.?</a:t>
            </a:r>
          </a:p>
        </p:txBody>
      </p:sp>
    </p:spTree>
    <p:extLst>
      <p:ext uri="{BB962C8B-B14F-4D97-AF65-F5344CB8AC3E}">
        <p14:creationId xmlns:p14="http://schemas.microsoft.com/office/powerpoint/2010/main" val="1757672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2B5EA-1D8E-4A7F-A644-CD3CA14E97C4}"/>
              </a:ext>
            </a:extLst>
          </p:cNvPr>
          <p:cNvSpPr>
            <a:spLocks noGrp="1"/>
          </p:cNvSpPr>
          <p:nvPr>
            <p:ph type="title"/>
          </p:nvPr>
        </p:nvSpPr>
        <p:spPr/>
        <p:txBody>
          <a:bodyPr/>
          <a:lstStyle/>
          <a:p>
            <a:r>
              <a:rPr lang="en-US" dirty="0"/>
              <a:t>Building blocks of optimal circuits</a:t>
            </a:r>
          </a:p>
        </p:txBody>
      </p:sp>
      <p:sp>
        <p:nvSpPr>
          <p:cNvPr id="3" name="Content Placeholder 2">
            <a:extLst>
              <a:ext uri="{FF2B5EF4-FFF2-40B4-BE49-F238E27FC236}">
                <a16:creationId xmlns:a16="http://schemas.microsoft.com/office/drawing/2014/main" id="{17D300FA-78B9-4F07-971C-6EFEAEEDFA58}"/>
              </a:ext>
            </a:extLst>
          </p:cNvPr>
          <p:cNvSpPr>
            <a:spLocks noGrp="1"/>
          </p:cNvSpPr>
          <p:nvPr>
            <p:ph idx="1"/>
          </p:nvPr>
        </p:nvSpPr>
        <p:spPr/>
        <p:txBody>
          <a:bodyPr/>
          <a:lstStyle/>
          <a:p>
            <a:pPr marL="0" indent="0">
              <a:buNone/>
            </a:pPr>
            <a:r>
              <a:rPr lang="en-US" dirty="0"/>
              <a:t>Optimal control with changing parameters (noisy or different between patients)</a:t>
            </a:r>
          </a:p>
          <a:p>
            <a:pPr marL="0" indent="0">
              <a:buNone/>
            </a:pPr>
            <a:endParaRPr lang="en-US" dirty="0"/>
          </a:p>
          <a:p>
            <a:pPr marL="0" indent="0">
              <a:buNone/>
            </a:pPr>
            <a:r>
              <a:rPr lang="en-US" dirty="0"/>
              <a:t>Profile likelihood</a:t>
            </a:r>
          </a:p>
        </p:txBody>
      </p:sp>
    </p:spTree>
    <p:extLst>
      <p:ext uri="{BB962C8B-B14F-4D97-AF65-F5344CB8AC3E}">
        <p14:creationId xmlns:p14="http://schemas.microsoft.com/office/powerpoint/2010/main" val="28513310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632</TotalTime>
  <Words>891</Words>
  <Application>Microsoft Office PowerPoint</Application>
  <PresentationFormat>On-screen Show (4:3)</PresentationFormat>
  <Paragraphs>90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Building blocks of optimal circuits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Anh Phong Tran</dc:creator>
  <cp:lastModifiedBy>Anh Phong Tran</cp:lastModifiedBy>
  <cp:revision>62</cp:revision>
  <dcterms:created xsi:type="dcterms:W3CDTF">2020-07-10T01:19:28Z</dcterms:created>
  <dcterms:modified xsi:type="dcterms:W3CDTF">2020-07-10T17:42:53Z</dcterms:modified>
</cp:coreProperties>
</file>